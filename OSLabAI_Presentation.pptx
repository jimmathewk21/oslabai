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a67f0a93-7983-ea42-22a0-17736527a419}">
          <p14:sldIdLst>
            <p14:sldId id="256"/>
          </p14:sldIdLst>
        </p14:section>
        <p14:section name="Introduction" id="{17c0fc31-166d-2ccf-589f-fd856edb5d1c}">
          <p14:sldIdLst>
            <p14:sldId id="257"/>
          </p14:sldIdLst>
        </p14:section>
        <p14:section name="Methodology" id="{c6e00e4d-f1f1-ecef-56d9-744ba0314d21}">
          <p14:sldIdLst>
            <p14:sldId id="258"/>
          </p14:sldIdLst>
        </p14:section>
        <p14:section name="Research &amp; Development" id="{06b93e26-e646-f8d7-9a84-7109fac10ab3}">
          <p14:sldIdLst>
            <p14:sldId id="259"/>
            <p14:sldId id="260"/>
          </p14:sldIdLst>
        </p14:section>
        <p14:section name="Wrap-up" id="{abc0daf3-fbc4-e148-966b-63addd0d1329}">
          <p14:sldIdLst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2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22B"/>
                </a:solidFill>
                <a:latin typeface="+mn-lt"/>
              </a:rPr>
              <a:t>Passages per topic (73 total)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Passages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022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Process Scheduling</c:v>
                  </c:pt>
                  <c:pt idx="1">
                    <c:v>Deadlocks</c:v>
                  </c:pt>
                  <c:pt idx="2">
                    <c:v>Memory Management</c:v>
                  </c:pt>
                  <c:pt idx="3">
                    <c:v>Process Synchronization</c:v>
                  </c:pt>
                  <c:pt idx="4">
                    <c:v>File Systems</c:v>
                  </c:pt>
                  <c:pt idx="5">
                    <c:v>OS Basics</c:v>
                  </c:pt>
                  <c:pt idx="6">
                    <c:v>CPU &amp; Process Concepts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11</c:v>
                </c:pt>
                <c:pt idx="1">
                  <c:v>11</c:v>
                </c:pt>
                <c:pt idx="2">
                  <c:v>11</c:v>
                </c:pt>
                <c:pt idx="3">
                  <c:v>10</c:v>
                </c:pt>
                <c:pt idx="4">
                  <c:v>10</c:v>
                </c:pt>
                <c:pt idx="5">
                  <c:v>10</c:v>
                </c:pt>
                <c:pt idx="6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022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022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and team. OSLabAI is a local Retrieval-Augmented Generation (RAG) tutor for Operating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students need quick, reliable answers to OS lab questions. OSLabAI answers only from a curated knowledge base of 73 passages across 7 topics and refuses off-topic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Flow: browser sends a question to Flask /ask. The RAG engine embeds it with nomic-embed-text, compares it with the cached passage embeddings using cosine similarity, and keeps the top 3 if the best score is at least 0.60. llama3.2:3b then writes the answer from those passages. Weak matches are rejected without calling the LLM.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knowledge base has 73 passages: Process Scheduling 11, Deadlocks 11, Memory Management 11, Process Synchronization 10, File Systems 10, Operating System Basics 10, CPU and Process Concepts 10. Embeddings come from nomic-embed-text (768 values). Retrieval uses cosine similarity with a 0.60 threshold and top 3 passages. Generation uses llama3.2:3b at temperature 0.2.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automated tests passed in the development environment; they exercise assistant_logic.py. The /metrics endpoint reports question counts and average response time, held in memory. Be upfront that formal answer accuracy has not been measured with a labelled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a working, offline RAG tutor. Be clear that results show basic functionality, not a formal accuracy figure. Future work focuses on a bigger knowledge base and proper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Textbook for OS concepts, RAG paper for the method, and the tools used: nomic-embed-text, Llama 3.2, Ollama and Flask.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45920"/>
            <a:ext cx="493776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OSLabAI  |  BCSE303P  Operating Systems Lab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OSLabAI  |  BCSE303P  Operating Systems Lab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OSLabAI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64592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An AI-Powered Assistant for Operating Systems Laboratory Learning</a:t>
            </a:r>
            <a:endParaRPr lang="en-US" sz="2000" dirty="0"/>
          </a:p>
        </p:txBody>
      </p:sp>
      <p:sp>
        <p:nvSpPr>
          <p:cNvPr id="4" name="Course details"/>
          <p:cNvSpPr txBox="1"/>
          <p:nvPr/>
        </p:nvSpPr>
        <p:spPr>
          <a:xfrm>
            <a:off x="548640" y="288036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Course Code: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BCSE303P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Subject: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Operating Systems Lab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Professor: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Dr. Jagalingam P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Team: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Vignesh Ekambaram (24BCE0651)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             </a:t>
            </a:r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Jim Mathew (24BCE0493)</a:t>
            </a:r>
            <a:endParaRPr lang="en-US" sz="1400" dirty="0"/>
          </a:p>
        </p:txBody>
      </p:sp>
      <p:sp>
        <p:nvSpPr>
          <p:cNvPr id="5" name="Pipeline card 1"/>
          <p:cNvSpPr/>
          <p:nvPr/>
        </p:nvSpPr>
        <p:spPr>
          <a:xfrm>
            <a:off x="6217920" y="914400"/>
            <a:ext cx="24688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6" name="Badge 1"/>
          <p:cNvSpPr txBox="1"/>
          <p:nvPr/>
        </p:nvSpPr>
        <p:spPr>
          <a:xfrm>
            <a:off x="6400800" y="11887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Pipeline label 1"/>
          <p:cNvSpPr txBox="1"/>
          <p:nvPr/>
        </p:nvSpPr>
        <p:spPr>
          <a:xfrm>
            <a:off x="6949440" y="11887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Question</a:t>
            </a:r>
            <a:endParaRPr lang="en-US" sz="1800" dirty="0"/>
          </a:p>
        </p:txBody>
      </p:sp>
      <p:sp>
        <p:nvSpPr>
          <p:cNvPr id="8" name="Pipeline card 2"/>
          <p:cNvSpPr/>
          <p:nvPr/>
        </p:nvSpPr>
        <p:spPr>
          <a:xfrm>
            <a:off x="6217920" y="2103120"/>
            <a:ext cx="24688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9" name="Badge 2"/>
          <p:cNvSpPr txBox="1"/>
          <p:nvPr/>
        </p:nvSpPr>
        <p:spPr>
          <a:xfrm>
            <a:off x="6400800" y="23774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Pipeline label 2"/>
          <p:cNvSpPr txBox="1"/>
          <p:nvPr/>
        </p:nvSpPr>
        <p:spPr>
          <a:xfrm>
            <a:off x="6949440" y="2377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Retrieve</a:t>
            </a:r>
            <a:endParaRPr lang="en-US" sz="1800" dirty="0"/>
          </a:p>
        </p:txBody>
      </p:sp>
      <p:sp>
        <p:nvSpPr>
          <p:cNvPr id="11" name="Pipeline card 3"/>
          <p:cNvSpPr/>
          <p:nvPr/>
        </p:nvSpPr>
        <p:spPr>
          <a:xfrm>
            <a:off x="6217920" y="3291840"/>
            <a:ext cx="24688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2" name="Badge 3"/>
          <p:cNvSpPr txBox="1"/>
          <p:nvPr/>
        </p:nvSpPr>
        <p:spPr>
          <a:xfrm>
            <a:off x="6400800" y="356616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3" name="Pipeline label 3"/>
          <p:cNvSpPr txBox="1"/>
          <p:nvPr/>
        </p:nvSpPr>
        <p:spPr>
          <a:xfrm>
            <a:off x="6949440" y="35661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Answer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Introduction &amp; Objective</a:t>
            </a:r>
            <a:endParaRPr lang="en-US" sz="3400" dirty="0"/>
          </a:p>
        </p:txBody>
      </p:sp>
      <p:sp>
        <p:nvSpPr>
          <p:cNvPr id="3" name="Overview card"/>
          <p:cNvSpPr/>
          <p:nvPr/>
        </p:nvSpPr>
        <p:spPr>
          <a:xfrm>
            <a:off x="457200" y="1188720"/>
            <a:ext cx="3657600" cy="3429000"/>
          </a:xfrm>
          <a:prstGeom prst="roundRect">
            <a:avLst>
              <a:gd name="adj" fmla="val 21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What is OSLabAI?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200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local web-based tutor for Operating Systems. A student asks a question, the system finds the most relevant passages in a knowledge base, and a local language model writes a clear answer from them.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069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knowledge-base passages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514600" y="3429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2514600" y="40690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Operating Systems topics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1188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Objectives</a:t>
            </a:r>
            <a:endParaRPr lang="en-US" sz="2000" dirty="0"/>
          </a:p>
        </p:txBody>
      </p:sp>
      <p:sp>
        <p:nvSpPr>
          <p:cNvPr id="11" name="Objective card 1"/>
          <p:cNvSpPr/>
          <p:nvPr/>
        </p:nvSpPr>
        <p:spPr>
          <a:xfrm>
            <a:off x="4480560" y="1691640"/>
            <a:ext cx="4206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2" name="Badge 1"/>
          <p:cNvSpPr txBox="1"/>
          <p:nvPr/>
        </p:nvSpPr>
        <p:spPr>
          <a:xfrm>
            <a:off x="4617720" y="184708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13" name="Objective 1"/>
          <p:cNvSpPr txBox="1"/>
          <p:nvPr/>
        </p:nvSpPr>
        <p:spPr>
          <a:xfrm>
            <a:off x="5074920" y="169164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Explain OS lab topics through an interactive chat tutor</a:t>
            </a:r>
            <a:endParaRPr lang="en-US" sz="1400" dirty="0"/>
          </a:p>
        </p:txBody>
      </p:sp>
      <p:sp>
        <p:nvSpPr>
          <p:cNvPr id="14" name="Objective card 2"/>
          <p:cNvSpPr/>
          <p:nvPr/>
        </p:nvSpPr>
        <p:spPr>
          <a:xfrm>
            <a:off x="4480560" y="2423160"/>
            <a:ext cx="4206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5" name="Badge 2"/>
          <p:cNvSpPr txBox="1"/>
          <p:nvPr/>
        </p:nvSpPr>
        <p:spPr>
          <a:xfrm>
            <a:off x="4617720" y="257860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Objective 2"/>
          <p:cNvSpPr txBox="1"/>
          <p:nvPr/>
        </p:nvSpPr>
        <p:spPr>
          <a:xfrm>
            <a:off x="5074920" y="242316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Ground answers in retrieved OS passages using RAG</a:t>
            </a:r>
            <a:endParaRPr lang="en-US" sz="1400" dirty="0"/>
          </a:p>
        </p:txBody>
      </p:sp>
      <p:sp>
        <p:nvSpPr>
          <p:cNvPr id="17" name="Objective card 3"/>
          <p:cNvSpPr/>
          <p:nvPr/>
        </p:nvSpPr>
        <p:spPr>
          <a:xfrm>
            <a:off x="4480560" y="3154680"/>
            <a:ext cx="4206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Badge 3"/>
          <p:cNvSpPr txBox="1"/>
          <p:nvPr/>
        </p:nvSpPr>
        <p:spPr>
          <a:xfrm>
            <a:off x="4617720" y="33101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Objective 3"/>
          <p:cNvSpPr txBox="1"/>
          <p:nvPr/>
        </p:nvSpPr>
        <p:spPr>
          <a:xfrm>
            <a:off x="5074920" y="315468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Reject unrelated questions with a similarity threshold</a:t>
            </a:r>
            <a:endParaRPr lang="en-US" sz="1400" dirty="0"/>
          </a:p>
        </p:txBody>
      </p:sp>
      <p:sp>
        <p:nvSpPr>
          <p:cNvPr id="20" name="Objective card 4"/>
          <p:cNvSpPr/>
          <p:nvPr/>
        </p:nvSpPr>
        <p:spPr>
          <a:xfrm>
            <a:off x="4480560" y="3886200"/>
            <a:ext cx="4206240" cy="621792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1" name="Badge 4"/>
          <p:cNvSpPr txBox="1"/>
          <p:nvPr/>
        </p:nvSpPr>
        <p:spPr>
          <a:xfrm>
            <a:off x="4617720" y="404164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Objective 4"/>
          <p:cNvSpPr txBox="1"/>
          <p:nvPr/>
        </p:nvSpPr>
        <p:spPr>
          <a:xfrm>
            <a:off x="5074920" y="3886200"/>
            <a:ext cx="3474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fully on a local machine using Ollama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Methodology: System Architecture</a:t>
            </a:r>
            <a:endParaRPr lang="en-US" sz="3400" dirty="0"/>
          </a:p>
        </p:txBody>
      </p:sp>
      <p:sp>
        <p:nvSpPr>
          <p:cNvPr id="3" name="Stage box 1"/>
          <p:cNvSpPr/>
          <p:nvPr/>
        </p:nvSpPr>
        <p:spPr>
          <a:xfrm>
            <a:off x="457200" y="1188720"/>
            <a:ext cx="1417320" cy="155448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Badge 1"/>
          <p:cNvSpPr txBox="1"/>
          <p:nvPr/>
        </p:nvSpPr>
        <p:spPr>
          <a:xfrm>
            <a:off x="566928" y="129844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66928" y="169164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Web UI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993392"/>
            <a:ext cx="119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HTML, CSS and JS chat with dashboard</a:t>
            </a:r>
            <a:endParaRPr lang="en-US" sz="1200" dirty="0"/>
          </a:p>
        </p:txBody>
      </p:sp>
      <p:sp>
        <p:nvSpPr>
          <p:cNvPr id="7" name="Arrow 1"/>
          <p:cNvSpPr/>
          <p:nvPr/>
        </p:nvSpPr>
        <p:spPr>
          <a:xfrm>
            <a:off x="1901952" y="1847088"/>
            <a:ext cx="237744" cy="237744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8" name="Stage box 2"/>
          <p:cNvSpPr/>
          <p:nvPr/>
        </p:nvSpPr>
        <p:spPr>
          <a:xfrm>
            <a:off x="2160270" y="1188720"/>
            <a:ext cx="1417320" cy="155448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9" name="Badge 2"/>
          <p:cNvSpPr txBox="1"/>
          <p:nvPr/>
        </p:nvSpPr>
        <p:spPr>
          <a:xfrm>
            <a:off x="2269998" y="129844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269998" y="169164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Flask API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269998" y="1993392"/>
            <a:ext cx="119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/ask and /metrics endpoints</a:t>
            </a:r>
            <a:endParaRPr lang="en-US" sz="1200" dirty="0"/>
          </a:p>
        </p:txBody>
      </p:sp>
      <p:sp>
        <p:nvSpPr>
          <p:cNvPr id="12" name="Arrow 2"/>
          <p:cNvSpPr/>
          <p:nvPr/>
        </p:nvSpPr>
        <p:spPr>
          <a:xfrm>
            <a:off x="3605022" y="1847088"/>
            <a:ext cx="237744" cy="237744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Stage box 3"/>
          <p:cNvSpPr/>
          <p:nvPr/>
        </p:nvSpPr>
        <p:spPr>
          <a:xfrm>
            <a:off x="3863340" y="1188720"/>
            <a:ext cx="1417320" cy="155448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4" name="Badge 3"/>
          <p:cNvSpPr txBox="1"/>
          <p:nvPr/>
        </p:nvSpPr>
        <p:spPr>
          <a:xfrm>
            <a:off x="3973068" y="129844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973068" y="169164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Retrieval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973068" y="1993392"/>
            <a:ext cx="119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Embed question, cosine similarity, top 3</a:t>
            </a:r>
            <a:endParaRPr lang="en-US" sz="1200" dirty="0"/>
          </a:p>
        </p:txBody>
      </p:sp>
      <p:sp>
        <p:nvSpPr>
          <p:cNvPr id="17" name="Arrow 3"/>
          <p:cNvSpPr/>
          <p:nvPr/>
        </p:nvSpPr>
        <p:spPr>
          <a:xfrm>
            <a:off x="5308092" y="1847088"/>
            <a:ext cx="237744" cy="237744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Stage box 4"/>
          <p:cNvSpPr/>
          <p:nvPr/>
        </p:nvSpPr>
        <p:spPr>
          <a:xfrm>
            <a:off x="5566410" y="1188720"/>
            <a:ext cx="1417320" cy="155448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9" name="Badge 4"/>
          <p:cNvSpPr txBox="1"/>
          <p:nvPr/>
        </p:nvSpPr>
        <p:spPr>
          <a:xfrm>
            <a:off x="5676138" y="129844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676138" y="169164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Generation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676138" y="1993392"/>
            <a:ext cx="119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llama3.2:3b answers from context</a:t>
            </a:r>
            <a:endParaRPr lang="en-US" sz="1200" dirty="0"/>
          </a:p>
        </p:txBody>
      </p:sp>
      <p:sp>
        <p:nvSpPr>
          <p:cNvPr id="22" name="Arrow 4"/>
          <p:cNvSpPr/>
          <p:nvPr/>
        </p:nvSpPr>
        <p:spPr>
          <a:xfrm>
            <a:off x="7011162" y="1847088"/>
            <a:ext cx="237744" cy="237744"/>
          </a:xfrm>
          <a:prstGeom prst="rightArrow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Stage box 5"/>
          <p:cNvSpPr/>
          <p:nvPr/>
        </p:nvSpPr>
        <p:spPr>
          <a:xfrm>
            <a:off x="7269480" y="1188720"/>
            <a:ext cx="1417320" cy="155448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4" name="Badge 5"/>
          <p:cNvSpPr txBox="1"/>
          <p:nvPr/>
        </p:nvSpPr>
        <p:spPr>
          <a:xfrm>
            <a:off x="7379208" y="129844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7379208" y="1691640"/>
            <a:ext cx="1197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Response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379208" y="1993392"/>
            <a:ext cx="11978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Answer, topic, score and time</a:t>
            </a:r>
            <a:endParaRPr lang="en-US" sz="1200" dirty="0"/>
          </a:p>
        </p:txBody>
      </p:sp>
      <p:sp>
        <p:nvSpPr>
          <p:cNvPr id="27" name="Rejection note"/>
          <p:cNvSpPr/>
          <p:nvPr/>
        </p:nvSpPr>
        <p:spPr>
          <a:xfrm>
            <a:off x="457200" y="2926080"/>
            <a:ext cx="8229600" cy="384048"/>
          </a:xfrm>
          <a:prstGeom prst="roundRect">
            <a:avLst>
              <a:gd name="adj" fmla="val 1904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Rejection text"/>
          <p:cNvSpPr txBox="1"/>
          <p:nvPr/>
        </p:nvSpPr>
        <p:spPr>
          <a:xfrm>
            <a:off x="640080" y="29260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Rejection path: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if the best similarity score is below 0.60, the question is rejected and no LLM call is made</a:t>
            </a:r>
            <a:endParaRPr lang="en-US" sz="1200" dirty="0"/>
          </a:p>
        </p:txBody>
      </p:sp>
      <p:sp>
        <p:nvSpPr>
          <p:cNvPr id="29" name="Support card 1"/>
          <p:cNvSpPr/>
          <p:nvPr/>
        </p:nvSpPr>
        <p:spPr>
          <a:xfrm>
            <a:off x="457200" y="352044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9436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dataset.py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436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73 passages grouped into 7 OS topics</a:t>
            </a:r>
            <a:endParaRPr lang="en-US" sz="1200" dirty="0"/>
          </a:p>
        </p:txBody>
      </p:sp>
      <p:sp>
        <p:nvSpPr>
          <p:cNvPr id="32" name="Support card 2"/>
          <p:cNvSpPr/>
          <p:nvPr/>
        </p:nvSpPr>
        <p:spPr>
          <a:xfrm>
            <a:off x="3291840" y="352044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42900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knowledge_base.json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342900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Cached 768-value embeddings, rebuilt if the dataset changes</a:t>
            </a:r>
            <a:endParaRPr lang="en-US" sz="1200" dirty="0"/>
          </a:p>
        </p:txBody>
      </p:sp>
      <p:sp>
        <p:nvSpPr>
          <p:cNvPr id="35" name="Support card 3"/>
          <p:cNvSpPr/>
          <p:nvPr/>
        </p:nvSpPr>
        <p:spPr>
          <a:xfrm>
            <a:off x="6126480" y="3520440"/>
            <a:ext cx="256032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263640" y="36118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Ollama (localhost:11434)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6263640" y="39319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Serves nomic-embed-text and llama3.2:3b locally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R&amp;D (1): RAG Pipeline &amp; Knowledge Base</a:t>
            </a:r>
            <a:endParaRPr lang="en-US" sz="3400" dirty="0"/>
          </a:p>
        </p:txBody>
      </p:sp>
      <p:graphicFrame>
        <p:nvGraphicFramePr>
          <p:cNvPr id="3" name="Passages per topic chart" descr=""/>
          <p:cNvGraphicFramePr/>
          <p:nvPr/>
        </p:nvGraphicFramePr>
        <p:xfrm>
          <a:off x="457200" y="1143000"/>
          <a:ext cx="44805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tat card 1"/>
          <p:cNvSpPr/>
          <p:nvPr/>
        </p:nvSpPr>
        <p:spPr>
          <a:xfrm>
            <a:off x="5212080" y="1188720"/>
            <a:ext cx="1645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321808" y="12801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768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5321808" y="190195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embedding values per passage</a:t>
            </a:r>
            <a:endParaRPr lang="en-US" sz="1200" dirty="0"/>
          </a:p>
        </p:txBody>
      </p:sp>
      <p:sp>
        <p:nvSpPr>
          <p:cNvPr id="7" name="Stat card 2"/>
          <p:cNvSpPr/>
          <p:nvPr/>
        </p:nvSpPr>
        <p:spPr>
          <a:xfrm>
            <a:off x="7040880" y="1188720"/>
            <a:ext cx="1645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150608" y="128016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150608" y="190195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minimum similarity to answer</a:t>
            </a:r>
            <a:endParaRPr lang="en-US" sz="1200" dirty="0"/>
          </a:p>
        </p:txBody>
      </p:sp>
      <p:sp>
        <p:nvSpPr>
          <p:cNvPr id="10" name="Stat card 3"/>
          <p:cNvSpPr/>
          <p:nvPr/>
        </p:nvSpPr>
        <p:spPr>
          <a:xfrm>
            <a:off x="5212080" y="2651760"/>
            <a:ext cx="1645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321808" y="274320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3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5321808" y="336499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passages sent to the LLM</a:t>
            </a:r>
            <a:endParaRPr lang="en-US" sz="1200" dirty="0"/>
          </a:p>
        </p:txBody>
      </p:sp>
      <p:sp>
        <p:nvSpPr>
          <p:cNvPr id="13" name="Stat card 4"/>
          <p:cNvSpPr/>
          <p:nvPr/>
        </p:nvSpPr>
        <p:spPr>
          <a:xfrm>
            <a:off x="7040880" y="2651760"/>
            <a:ext cx="1645920" cy="128016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150608" y="2743200"/>
            <a:ext cx="14264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7150608" y="3364992"/>
            <a:ext cx="1426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LLM temperature for stable answers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12080" y="416052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The prompt tells the model to use only the supplied context and never invent citations.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R&amp;D (2): Testing, Metrics &amp; Limitations</a:t>
            </a:r>
            <a:endParaRPr lang="en-US" sz="3400" dirty="0"/>
          </a:p>
        </p:txBody>
      </p:sp>
      <p:sp>
        <p:nvSpPr>
          <p:cNvPr id="3" name="Column card 1"/>
          <p:cNvSpPr/>
          <p:nvPr/>
        </p:nvSpPr>
        <p:spPr>
          <a:xfrm>
            <a:off x="457200" y="1188720"/>
            <a:ext cx="256032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Column card 2"/>
          <p:cNvSpPr/>
          <p:nvPr/>
        </p:nvSpPr>
        <p:spPr>
          <a:xfrm>
            <a:off x="3291840" y="1188720"/>
            <a:ext cx="256032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5" name="Column card 3"/>
          <p:cNvSpPr/>
          <p:nvPr/>
        </p:nvSpPr>
        <p:spPr>
          <a:xfrm>
            <a:off x="6126480" y="1188720"/>
            <a:ext cx="2560320" cy="3429000"/>
          </a:xfrm>
          <a:prstGeom prst="roundRect">
            <a:avLst>
              <a:gd name="adj" fmla="val 285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Testing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43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automated tests passed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0896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cover the keyword-based assistant logic. RAG retrieval was checked manually with OS and unrelated questions.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7472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Runtime metrics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87452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Total questions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Answered questions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Rejected questions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Failed requests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Average response time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37490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chemeClr val="tx2"/>
                </a:solidFill>
              </a:rPr>
              <a:t>Held in memory and reset when Flask restarts. They measure usage, not accuracy.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874520"/>
            <a:ext cx="2194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Covers only the 73 bundled passages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Threshold is a heuristic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labelled accuracy evaluation yet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Local prototype, not production-hardened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Takeaway card 1"/>
          <p:cNvSpPr/>
          <p:nvPr/>
        </p:nvSpPr>
        <p:spPr>
          <a:xfrm>
            <a:off x="457200" y="1188720"/>
            <a:ext cx="484632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Badge 1"/>
          <p:cNvSpPr txBox="1"/>
          <p:nvPr/>
        </p:nvSpPr>
        <p:spPr>
          <a:xfrm>
            <a:off x="640080" y="151333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Takeaway 1"/>
          <p:cNvSpPr txBox="1"/>
          <p:nvPr/>
        </p:nvSpPr>
        <p:spPr>
          <a:xfrm>
            <a:off x="1143000" y="1188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OSLabAI delivers a working local RAG tutor for Operating Systems questions</a:t>
            </a:r>
            <a:endParaRPr lang="en-US" sz="1400" dirty="0"/>
          </a:p>
        </p:txBody>
      </p:sp>
      <p:sp>
        <p:nvSpPr>
          <p:cNvPr id="6" name="Takeaway card 2"/>
          <p:cNvSpPr/>
          <p:nvPr/>
        </p:nvSpPr>
        <p:spPr>
          <a:xfrm>
            <a:off x="457200" y="2331720"/>
            <a:ext cx="484632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7" name="Badge 2"/>
          <p:cNvSpPr txBox="1"/>
          <p:nvPr/>
        </p:nvSpPr>
        <p:spPr>
          <a:xfrm>
            <a:off x="640080" y="265633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Takeaway 2"/>
          <p:cNvSpPr txBox="1"/>
          <p:nvPr/>
        </p:nvSpPr>
        <p:spPr>
          <a:xfrm>
            <a:off x="1143000" y="2331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similarity threshold keeps answers on topic by rejecting weak matches</a:t>
            </a:r>
            <a:endParaRPr lang="en-US" sz="1400" dirty="0"/>
          </a:p>
        </p:txBody>
      </p:sp>
      <p:sp>
        <p:nvSpPr>
          <p:cNvPr id="9" name="Takeaway card 3"/>
          <p:cNvSpPr/>
          <p:nvPr/>
        </p:nvSpPr>
        <p:spPr>
          <a:xfrm>
            <a:off x="457200" y="3474720"/>
            <a:ext cx="4846320" cy="960120"/>
          </a:xfrm>
          <a:prstGeom prst="roundRect">
            <a:avLst>
              <a:gd name="adj" fmla="val 761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0" name="Badge 3"/>
          <p:cNvSpPr txBox="1"/>
          <p:nvPr/>
        </p:nvSpPr>
        <p:spPr>
          <a:xfrm>
            <a:off x="640080" y="379933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Takeaway 3"/>
          <p:cNvSpPr txBox="1"/>
          <p:nvPr/>
        </p:nvSpPr>
        <p:spPr>
          <a:xfrm>
            <a:off x="1143000" y="347472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It runs offline with Ollama and includes live metrics and automated tests</a:t>
            </a:r>
            <a:endParaRPr lang="en-US" sz="1400" dirty="0"/>
          </a:p>
        </p:txBody>
      </p:sp>
      <p:sp>
        <p:nvSpPr>
          <p:cNvPr id="12" name="Future work card"/>
          <p:cNvSpPr/>
          <p:nvPr/>
        </p:nvSpPr>
        <p:spPr>
          <a:xfrm>
            <a:off x="5577840" y="1188720"/>
            <a:ext cx="3108960" cy="3246120"/>
          </a:xfrm>
          <a:prstGeom prst="roundRect">
            <a:avLst>
              <a:gd name="adj" fmla="val 2353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806440" y="13716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Future work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187452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Expand the knowledge base beyond 73 passages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Build a labelled question set to measure accuracy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Tune the threshold and prompt using that data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References</a:t>
            </a:r>
            <a:endParaRPr lang="en-US" sz="3400" dirty="0"/>
          </a:p>
        </p:txBody>
      </p:sp>
      <p:sp>
        <p:nvSpPr>
          <p:cNvPr id="3" name="Reference card 1"/>
          <p:cNvSpPr/>
          <p:nvPr/>
        </p:nvSpPr>
        <p:spPr>
          <a:xfrm>
            <a:off x="457200" y="118872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Badge 1"/>
          <p:cNvSpPr txBox="1"/>
          <p:nvPr/>
        </p:nvSpPr>
        <p:spPr>
          <a:xfrm>
            <a:off x="594360" y="127101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</a:t>
            </a:r>
            <a:endParaRPr lang="en-US" sz="1200" dirty="0"/>
          </a:p>
        </p:txBody>
      </p:sp>
      <p:sp>
        <p:nvSpPr>
          <p:cNvPr id="5" name="Reference 1"/>
          <p:cNvSpPr txBox="1"/>
          <p:nvPr/>
        </p:nvSpPr>
        <p:spPr>
          <a:xfrm>
            <a:off x="1097280" y="118872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A. Silberschatz, P. B. Galvin and G. Gagne, Operating System Concepts, 10th ed., Wiley, 2018.</a:t>
            </a:r>
            <a:endParaRPr lang="en-US" sz="1400" dirty="0"/>
          </a:p>
        </p:txBody>
      </p:sp>
      <p:sp>
        <p:nvSpPr>
          <p:cNvPr id="6" name="Reference card 2"/>
          <p:cNvSpPr/>
          <p:nvPr/>
        </p:nvSpPr>
        <p:spPr>
          <a:xfrm>
            <a:off x="457200" y="175564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Badge 2"/>
          <p:cNvSpPr txBox="1"/>
          <p:nvPr/>
        </p:nvSpPr>
        <p:spPr>
          <a:xfrm>
            <a:off x="594360" y="1837944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2</a:t>
            </a:r>
            <a:endParaRPr lang="en-US" sz="1200" dirty="0"/>
          </a:p>
        </p:txBody>
      </p:sp>
      <p:sp>
        <p:nvSpPr>
          <p:cNvPr id="8" name="Reference 2"/>
          <p:cNvSpPr txBox="1"/>
          <p:nvPr/>
        </p:nvSpPr>
        <p:spPr>
          <a:xfrm>
            <a:off x="1097280" y="1755648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P. Lewis et al., “Retrieval-Augmented Generation for Knowledge-Intensive NLP Tasks,” NeurIPS, 2020.</a:t>
            </a:r>
            <a:endParaRPr lang="en-US" sz="1400" dirty="0"/>
          </a:p>
        </p:txBody>
      </p:sp>
      <p:sp>
        <p:nvSpPr>
          <p:cNvPr id="9" name="Reference card 3"/>
          <p:cNvSpPr/>
          <p:nvPr/>
        </p:nvSpPr>
        <p:spPr>
          <a:xfrm>
            <a:off x="457200" y="232257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Badge 3"/>
          <p:cNvSpPr txBox="1"/>
          <p:nvPr/>
        </p:nvSpPr>
        <p:spPr>
          <a:xfrm>
            <a:off x="594360" y="2404872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</a:t>
            </a:r>
            <a:endParaRPr lang="en-US" sz="1200" dirty="0"/>
          </a:p>
        </p:txBody>
      </p:sp>
      <p:sp>
        <p:nvSpPr>
          <p:cNvPr id="11" name="Reference 3"/>
          <p:cNvSpPr txBox="1"/>
          <p:nvPr/>
        </p:nvSpPr>
        <p:spPr>
          <a:xfrm>
            <a:off x="1097280" y="2322576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Z. Nussbaum et al., “Nomic Embed: Training a Reproducible Long Context Text Embedder,” arXiv:2402.01613, 2024.</a:t>
            </a:r>
            <a:endParaRPr lang="en-US" sz="1400" dirty="0"/>
          </a:p>
        </p:txBody>
      </p:sp>
      <p:sp>
        <p:nvSpPr>
          <p:cNvPr id="12" name="Reference card 4"/>
          <p:cNvSpPr/>
          <p:nvPr/>
        </p:nvSpPr>
        <p:spPr>
          <a:xfrm>
            <a:off x="457200" y="2889504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Badge 4"/>
          <p:cNvSpPr txBox="1"/>
          <p:nvPr/>
        </p:nvSpPr>
        <p:spPr>
          <a:xfrm>
            <a:off x="594360" y="2971800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4</a:t>
            </a:r>
            <a:endParaRPr lang="en-US" sz="1200" dirty="0"/>
          </a:p>
        </p:txBody>
      </p:sp>
      <p:sp>
        <p:nvSpPr>
          <p:cNvPr id="14" name="Reference 4"/>
          <p:cNvSpPr txBox="1"/>
          <p:nvPr/>
        </p:nvSpPr>
        <p:spPr>
          <a:xfrm>
            <a:off x="1097280" y="2889504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Meta AI, Llama 3.2 lightweight models (1B and 3B), September 2024. llama.com</a:t>
            </a:r>
            <a:endParaRPr lang="en-US" sz="1400" dirty="0"/>
          </a:p>
        </p:txBody>
      </p:sp>
      <p:sp>
        <p:nvSpPr>
          <p:cNvPr id="15" name="Reference card 5"/>
          <p:cNvSpPr/>
          <p:nvPr/>
        </p:nvSpPr>
        <p:spPr>
          <a:xfrm>
            <a:off x="457200" y="3456432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Badge 5"/>
          <p:cNvSpPr txBox="1"/>
          <p:nvPr/>
        </p:nvSpPr>
        <p:spPr>
          <a:xfrm>
            <a:off x="594360" y="3538728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</a:t>
            </a:r>
            <a:endParaRPr lang="en-US" sz="1200" dirty="0"/>
          </a:p>
        </p:txBody>
      </p:sp>
      <p:sp>
        <p:nvSpPr>
          <p:cNvPr id="17" name="Reference 5"/>
          <p:cNvSpPr txBox="1"/>
          <p:nvPr/>
        </p:nvSpPr>
        <p:spPr>
          <a:xfrm>
            <a:off x="1097280" y="3456432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Ollama, Run large language models locally. ollama.com</a:t>
            </a:r>
            <a:endParaRPr lang="en-US" sz="1400" dirty="0"/>
          </a:p>
        </p:txBody>
      </p:sp>
      <p:sp>
        <p:nvSpPr>
          <p:cNvPr id="18" name="Reference card 6"/>
          <p:cNvSpPr/>
          <p:nvPr/>
        </p:nvSpPr>
        <p:spPr>
          <a:xfrm>
            <a:off x="457200" y="40233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9" name="Badge 6"/>
          <p:cNvSpPr txBox="1"/>
          <p:nvPr/>
        </p:nvSpPr>
        <p:spPr>
          <a:xfrm>
            <a:off x="594360" y="4105656"/>
            <a:ext cx="310896" cy="310896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6</a:t>
            </a:r>
            <a:endParaRPr lang="en-US" sz="1200" dirty="0"/>
          </a:p>
        </p:txBody>
      </p:sp>
      <p:sp>
        <p:nvSpPr>
          <p:cNvPr id="20" name="Reference 6"/>
          <p:cNvSpPr txBox="1"/>
          <p:nvPr/>
        </p:nvSpPr>
        <p:spPr>
          <a:xfrm>
            <a:off x="1097280" y="4023360"/>
            <a:ext cx="7406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Pallets Projects, Flask documentation. flask.palletsprojects.com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LabAI">
  <a:themeElements>
    <a:clrScheme name="OSLabAI">
      <a:dk1>
        <a:srgbClr val="10222B"/>
      </a:dk1>
      <a:lt1>
        <a:srgbClr val="FFFFFF"/>
      </a:lt1>
      <a:dk2>
        <a:srgbClr val="1B3A47"/>
      </a:dk2>
      <a:lt2>
        <a:srgbClr val="EEF3F2"/>
      </a:lt2>
      <a:accent1>
        <a:srgbClr val="F2A541"/>
      </a:accent1>
      <a:accent2>
        <a:srgbClr val="2A9D8F"/>
      </a:accent2>
      <a:accent3>
        <a:srgbClr val="E76F51"/>
      </a:accent3>
      <a:accent4>
        <a:srgbClr val="5B8FA3"/>
      </a:accent4>
      <a:accent5>
        <a:srgbClr val="8AB17D"/>
      </a:accent5>
      <a:accent6>
        <a:srgbClr val="6D597A"/>
      </a:accent6>
      <a:hlink>
        <a:srgbClr val="2A9D8F"/>
      </a:hlink>
      <a:folHlink>
        <a:srgbClr val="6D597A"/>
      </a:folHlink>
    </a:clrScheme>
    <a:fontScheme name="OSLabA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OSLabAI - Operating Systems AI Tutor</dc:title>
  <dc:subject>PptxGenJS Presentation</dc:subject>
  <dc:creator>Vignesh Ekambaram, Jim Mathew</dc:creator>
  <cp:lastModifiedBy>Vignesh Ekambaram, Jim Mathew</cp:lastModifiedBy>
  <cp:revision>1</cp:revision>
  <dcterms:created xsi:type="dcterms:W3CDTF">2026-10-23T16:59:59Z</dcterms:created>
  <dcterms:modified xsi:type="dcterms:W3CDTF">2026-10-23T16:59:59Z</dcterms:modified>
</cp:coreProperties>
</file>